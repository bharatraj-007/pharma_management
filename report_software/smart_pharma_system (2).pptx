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468880" cy="24688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2377440" cy="329184"/>
          </a:xfrm>
          <a:prstGeom prst="roundRect">
            <a:avLst>
              <a:gd name="adj" fmla="val 13889"/>
            </a:avLst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457200" y="548640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B.Tech AI &amp; Data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smart-pharma-system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EC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Multi-Company Smart Pharma Production,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EC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Inventory &amp; Workforce Management System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371600" cy="457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457200" y="333756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Prepared By:</a:t>
            </a:r>
            <a:endParaRPr lang="en-US" sz="13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                     Bharatraj B(E0323054)</a:t>
            </a:r>
            <a:endParaRPr lang="en-US" sz="13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                      Yokeshnandha(E0323041)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1284732" cy="256032"/>
          </a:xfrm>
          <a:prstGeom prst="rect">
            <a:avLst/>
          </a:prstGeom>
          <a:solidFill>
            <a:srgbClr val="028090">
              <a:alpha val="7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457200" y="3886200"/>
            <a:ext cx="12847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Multi-company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51660" y="3886200"/>
            <a:ext cx="2139696" cy="256032"/>
          </a:xfrm>
          <a:prstGeom prst="rect">
            <a:avLst/>
          </a:prstGeom>
          <a:solidFill>
            <a:srgbClr val="028090">
              <a:alpha val="7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851660" y="3886200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Foil &amp; Cylinder Tracking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01084" y="3886200"/>
            <a:ext cx="1207008" cy="256032"/>
          </a:xfrm>
          <a:prstGeom prst="rect">
            <a:avLst/>
          </a:prstGeom>
          <a:solidFill>
            <a:srgbClr val="028090">
              <a:alpha val="7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4101084" y="3886200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Barcode &amp; QR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17820" y="3886200"/>
            <a:ext cx="1362456" cy="256032"/>
          </a:xfrm>
          <a:prstGeom prst="rect">
            <a:avLst/>
          </a:prstGeom>
          <a:solidFill>
            <a:srgbClr val="028090">
              <a:alpha val="7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417820" y="3886200"/>
            <a:ext cx="13624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Workforce Mgmt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90004" y="3886200"/>
            <a:ext cx="1440180" cy="256032"/>
          </a:xfrm>
          <a:prstGeom prst="rect">
            <a:avLst/>
          </a:prstGeom>
          <a:solidFill>
            <a:srgbClr val="028090">
              <a:alpha val="7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890004" y="3886200"/>
            <a:ext cx="14401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Task Scheduling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15097" y="4251325"/>
            <a:ext cx="1129284" cy="256032"/>
          </a:xfrm>
          <a:prstGeom prst="rect">
            <a:avLst/>
          </a:prstGeom>
          <a:solidFill>
            <a:srgbClr val="028090">
              <a:alpha val="70000"/>
            </a:srgbClr>
          </a:solidFill>
        </p:spPr>
        <p:txBody>
          <a:bodyPr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52867" y="4251325"/>
            <a:ext cx="11292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Secure Auth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>
              <a:alpha val="6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  | Pharmaceutical Packaging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Definition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</a:rPr>
              <a:t>SMART Criteria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Pharmaceutical packaging industries face challenges in managing foil inventory, cylinder records, worker attendance, production tasks, and stock tracking — often relying on disconnected manual systems.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160020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1600200" cy="56692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9" name="Text 7"/>
          <p:cNvSpPr/>
          <p:nvPr/>
        </p:nvSpPr>
        <p:spPr>
          <a:xfrm>
            <a:off x="320040" y="15087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Specific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141732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Manages foil stock, cylinders, worker attendance &amp; production task tracking in pharma packaging industries.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03120" y="1508760"/>
            <a:ext cx="160020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508760"/>
            <a:ext cx="1600200" cy="56692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2103120" y="15087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103120" y="21214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Measurable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523744"/>
            <a:ext cx="141732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Reduces manual stock errors, tracks real-time foil usage, improves attendance accuracy via QR &amp; biometric.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86200" y="1508760"/>
            <a:ext cx="160020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86200" y="1508760"/>
            <a:ext cx="1600200" cy="56692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3886200" y="15087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A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886200" y="21214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Achievable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2523744"/>
            <a:ext cx="141732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with full-stack technologies, secure authentication &amp; scalable database architecture.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1508760"/>
            <a:ext cx="160020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1508760"/>
            <a:ext cx="1600200" cy="56692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4" name="Text 22"/>
          <p:cNvSpPr/>
          <p:nvPr/>
        </p:nvSpPr>
        <p:spPr>
          <a:xfrm>
            <a:off x="5669280" y="15087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669280" y="21214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Relevant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2523744"/>
            <a:ext cx="141732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Supports pharmaceutical printing companies in improving operational efficiency &amp; production monitoring.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1508760"/>
            <a:ext cx="160020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06640" y="1508760"/>
            <a:ext cx="1600200" cy="56692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9" name="Text 27"/>
          <p:cNvSpPr/>
          <p:nvPr/>
        </p:nvSpPr>
        <p:spPr>
          <a:xfrm>
            <a:off x="7406640" y="15087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06640" y="21214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Time-Bound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2523744"/>
            <a:ext cx="141732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Complete implementation within 3–4 months: frontend, backend, database, testing &amp;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Current vs Desired State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868680"/>
          <a:ext cx="859536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56616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 State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Desired State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Inventory Tracking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Manual records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Automated stock management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Attendance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Register-based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QR / Biometric attendance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Barcode Management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No tracking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Auto-generated barcode tracking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Production Monitoring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Difficult to monitor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Real-time task dashboard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Reports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Manual preparation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Automated analytics &amp; reports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Security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Weak login system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</a:rPr>
                        <a:t>JWT &amp; OTP secured system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About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</a:rPr>
              <a:t>5W2H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06908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64008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320040" y="86868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WHO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33272" y="941832"/>
            <a:ext cx="3291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Managers, admins, CEOs, workers &amp; production teams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06908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64008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320040" y="182880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WHAT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33272" y="1901952"/>
            <a:ext cx="3291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Lack of centralized management for foil stock, cylinders, attendance &amp; production tasks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06908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88920"/>
            <a:ext cx="64008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320040" y="278892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WHERE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3272" y="2862072"/>
            <a:ext cx="3291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Production management, inventory monitoring &amp; workforce tracking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406908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49040"/>
            <a:ext cx="64008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0" name="Text 18"/>
          <p:cNvSpPr/>
          <p:nvPr/>
        </p:nvSpPr>
        <p:spPr>
          <a:xfrm>
            <a:off x="320040" y="374904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WHEN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33272" y="3822192"/>
            <a:ext cx="3291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During stock usage, production updates, shift management &amp; task scheduling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406908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868680"/>
            <a:ext cx="64008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4" name="Text 22"/>
          <p:cNvSpPr/>
          <p:nvPr/>
        </p:nvSpPr>
        <p:spPr>
          <a:xfrm>
            <a:off x="4754880" y="86868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WHY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68112" y="941832"/>
            <a:ext cx="3291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Manual tracking causes human errors, stock mismatch &amp; delayed communication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828800"/>
            <a:ext cx="406908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828800"/>
            <a:ext cx="64008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8" name="Text 26"/>
          <p:cNvSpPr/>
          <p:nvPr/>
        </p:nvSpPr>
        <p:spPr>
          <a:xfrm>
            <a:off x="4754880" y="182880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68112" y="1901952"/>
            <a:ext cx="3291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Companies use Excel sheets, paper records or disconnected software systems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88920"/>
            <a:ext cx="406908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788920"/>
            <a:ext cx="640080" cy="8229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2" name="Text 30"/>
          <p:cNvSpPr/>
          <p:nvPr/>
        </p:nvSpPr>
        <p:spPr>
          <a:xfrm>
            <a:off x="4754880" y="278892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HOW MUCH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68112" y="2862072"/>
            <a:ext cx="329184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Leads to production delays, material wastage &amp; increased operational costs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Stakeholders &amp;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</a:rPr>
              <a:t>ISO/IEC/IEEE 29148:2018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56032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2560320" cy="38404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8" name="Text 6"/>
          <p:cNvSpPr/>
          <p:nvPr/>
        </p:nvSpPr>
        <p:spPr>
          <a:xfrm>
            <a:off x="320040" y="86868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STAKEHOLDERS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201168" cy="20116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822960" y="1389888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CEO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93392"/>
            <a:ext cx="201168" cy="20116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822960" y="1901952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Admin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201168" cy="20116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822960" y="2414016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201168" cy="20116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822960" y="292608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Worker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201168" cy="20116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8" name="Text 16"/>
          <p:cNvSpPr/>
          <p:nvPr/>
        </p:nvSpPr>
        <p:spPr>
          <a:xfrm>
            <a:off x="822960" y="3438144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Inventory Team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201168" cy="20116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0" name="Text 18"/>
          <p:cNvSpPr/>
          <p:nvPr/>
        </p:nvSpPr>
        <p:spPr>
          <a:xfrm>
            <a:off x="822960" y="3950208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Production Team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868680"/>
            <a:ext cx="260604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868680"/>
            <a:ext cx="2606040" cy="384048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23" name="Text 21"/>
          <p:cNvSpPr/>
          <p:nvPr/>
        </p:nvSpPr>
        <p:spPr>
          <a:xfrm>
            <a:off x="3200400" y="86868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INCLUDED IN 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1490472"/>
            <a:ext cx="164592" cy="164592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25" name="Text 23"/>
          <p:cNvSpPr/>
          <p:nvPr/>
        </p:nvSpPr>
        <p:spPr>
          <a:xfrm>
            <a:off x="3639312" y="1389888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Inventory Tracking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2075688"/>
            <a:ext cx="164592" cy="164592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27" name="Text 25"/>
          <p:cNvSpPr/>
          <p:nvPr/>
        </p:nvSpPr>
        <p:spPr>
          <a:xfrm>
            <a:off x="3639312" y="1975104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Attendance Management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2660904"/>
            <a:ext cx="164592" cy="164592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29" name="Text 27"/>
          <p:cNvSpPr/>
          <p:nvPr/>
        </p:nvSpPr>
        <p:spPr>
          <a:xfrm>
            <a:off x="3639312" y="256032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Task Scheduling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3246120"/>
            <a:ext cx="164592" cy="164592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31" name="Text 29"/>
          <p:cNvSpPr/>
          <p:nvPr/>
        </p:nvSpPr>
        <p:spPr>
          <a:xfrm>
            <a:off x="3639312" y="3145536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Barcode Generation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37560" y="3831336"/>
            <a:ext cx="164592" cy="164592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33" name="Text 31"/>
          <p:cNvSpPr/>
          <p:nvPr/>
        </p:nvSpPr>
        <p:spPr>
          <a:xfrm>
            <a:off x="3639312" y="3730752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Reports &amp; Analytics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868680"/>
            <a:ext cx="2651760" cy="18745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868680"/>
            <a:ext cx="2651760" cy="384048"/>
          </a:xfrm>
          <a:prstGeom prst="rect">
            <a:avLst/>
          </a:prstGeom>
          <a:solidFill>
            <a:srgbClr val="991B1B"/>
          </a:solidFill>
        </p:spPr>
      </p:sp>
      <p:sp>
        <p:nvSpPr>
          <p:cNvPr id="36" name="Text 34"/>
          <p:cNvSpPr/>
          <p:nvPr/>
        </p:nvSpPr>
        <p:spPr>
          <a:xfrm>
            <a:off x="6126480" y="868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EXCLUDED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1517904"/>
            <a:ext cx="128016" cy="128016"/>
          </a:xfrm>
          <a:prstGeom prst="rect">
            <a:avLst/>
          </a:prstGeom>
          <a:solidFill>
            <a:srgbClr val="991B1B"/>
          </a:solidFill>
        </p:spPr>
      </p:sp>
      <p:sp>
        <p:nvSpPr>
          <p:cNvPr id="38" name="Text 36"/>
          <p:cNvSpPr/>
          <p:nvPr/>
        </p:nvSpPr>
        <p:spPr>
          <a:xfrm>
            <a:off x="6492240" y="1389888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Financial Accounting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2084832"/>
            <a:ext cx="128016" cy="128016"/>
          </a:xfrm>
          <a:prstGeom prst="rect">
            <a:avLst/>
          </a:prstGeom>
          <a:solidFill>
            <a:srgbClr val="991B1B"/>
          </a:solidFill>
        </p:spPr>
      </p:sp>
      <p:sp>
        <p:nvSpPr>
          <p:cNvPr id="40" name="Text 38"/>
          <p:cNvSpPr/>
          <p:nvPr/>
        </p:nvSpPr>
        <p:spPr>
          <a:xfrm>
            <a:off x="6492240" y="1956816"/>
            <a:ext cx="2103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External ERP Integration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2971800"/>
            <a:ext cx="265176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2971800"/>
            <a:ext cx="2651760" cy="38404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3" name="Text 41"/>
          <p:cNvSpPr/>
          <p:nvPr/>
        </p:nvSpPr>
        <p:spPr>
          <a:xfrm>
            <a:off x="6126480" y="297180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SUCCESS CRITERIA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547872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45" name="Text 43"/>
          <p:cNvSpPr/>
          <p:nvPr/>
        </p:nvSpPr>
        <p:spPr>
          <a:xfrm>
            <a:off x="6492240" y="3456432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Secure login system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3877056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47" name="Text 45"/>
          <p:cNvSpPr/>
          <p:nvPr/>
        </p:nvSpPr>
        <p:spPr>
          <a:xfrm>
            <a:off x="6492240" y="3785616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Real-time stock updates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4206240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49" name="Text 47"/>
          <p:cNvSpPr/>
          <p:nvPr/>
        </p:nvSpPr>
        <p:spPr>
          <a:xfrm>
            <a:off x="6492240" y="4114800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Task completion tracking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63640" y="4535424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51" name="Text 49"/>
          <p:cNvSpPr/>
          <p:nvPr/>
        </p:nvSpPr>
        <p:spPr>
          <a:xfrm>
            <a:off x="6492240" y="4443984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Barcode scanning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12064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120640" cy="43891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7" name="Text 5"/>
          <p:cNvSpPr/>
          <p:nvPr/>
        </p:nvSpPr>
        <p:spPr>
          <a:xfrm>
            <a:off x="320040" y="86868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⚙  FUNCTIONAL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9" name="Text 7"/>
          <p:cNvSpPr/>
          <p:nvPr/>
        </p:nvSpPr>
        <p:spPr>
          <a:xfrm>
            <a:off x="804672" y="1426464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User authentication &amp; authorization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804672" y="1901952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QR-based attendance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804672" y="2377440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Barcode generation for foil &amp; cylinders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62656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5" name="Text 13"/>
          <p:cNvSpPr/>
          <p:nvPr/>
        </p:nvSpPr>
        <p:spPr>
          <a:xfrm>
            <a:off x="804672" y="2852928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Inventory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38144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804672" y="3328416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Task scheduling and monitoring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13632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804672" y="3803904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PDF upload for production designs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1" name="Text 19"/>
          <p:cNvSpPr/>
          <p:nvPr/>
        </p:nvSpPr>
        <p:spPr>
          <a:xfrm>
            <a:off x="804672" y="4279392"/>
            <a:ext cx="4480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Reports and dashboard analytics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868680"/>
            <a:ext cx="315468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868680"/>
            <a:ext cx="3154680" cy="43891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4" name="Text 22"/>
          <p:cNvSpPr/>
          <p:nvPr/>
        </p:nvSpPr>
        <p:spPr>
          <a:xfrm>
            <a:off x="5669280" y="8686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NON-FUNCTIONAL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3872" y="1554480"/>
            <a:ext cx="146304" cy="1463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4"/>
          <p:cNvSpPr/>
          <p:nvPr/>
        </p:nvSpPr>
        <p:spPr>
          <a:xfrm>
            <a:off x="6108192" y="1426464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Security – JWT &amp; OTP protection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33872" y="2103120"/>
            <a:ext cx="146304" cy="1463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6108192" y="1975104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Scalability – Multi-company support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33872" y="2651760"/>
            <a:ext cx="146304" cy="1463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Text 28"/>
          <p:cNvSpPr/>
          <p:nvPr/>
        </p:nvSpPr>
        <p:spPr>
          <a:xfrm>
            <a:off x="6108192" y="2523744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Performance – Fast API response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33872" y="3200400"/>
            <a:ext cx="146304" cy="1463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6108192" y="3072384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Reliability – Consistent uptime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33872" y="3749040"/>
            <a:ext cx="146304" cy="14630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6108192" y="3621024"/>
            <a:ext cx="2606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Mobile Responsiveness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69164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169164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320040" y="8686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9" name="Text 7"/>
          <p:cNvSpPr/>
          <p:nvPr/>
        </p:nvSpPr>
        <p:spPr>
          <a:xfrm>
            <a:off x="457200" y="1508760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React.js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1" name="Text 9"/>
          <p:cNvSpPr/>
          <p:nvPr/>
        </p:nvSpPr>
        <p:spPr>
          <a:xfrm>
            <a:off x="457200" y="216712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HTML5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3" name="Text 11"/>
          <p:cNvSpPr/>
          <p:nvPr/>
        </p:nvSpPr>
        <p:spPr>
          <a:xfrm>
            <a:off x="457200" y="2825496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CSS3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5" name="Text 13"/>
          <p:cNvSpPr/>
          <p:nvPr/>
        </p:nvSpPr>
        <p:spPr>
          <a:xfrm>
            <a:off x="457200" y="3483864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868680"/>
            <a:ext cx="169164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48840" y="868680"/>
            <a:ext cx="1691640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2148840" y="8686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1508760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0" name="Text 18"/>
          <p:cNvSpPr/>
          <p:nvPr/>
        </p:nvSpPr>
        <p:spPr>
          <a:xfrm>
            <a:off x="2286000" y="1508760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Node.js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2167128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2" name="Text 20"/>
          <p:cNvSpPr/>
          <p:nvPr/>
        </p:nvSpPr>
        <p:spPr>
          <a:xfrm>
            <a:off x="2286000" y="216712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Express.js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2825496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4" name="Text 22"/>
          <p:cNvSpPr/>
          <p:nvPr/>
        </p:nvSpPr>
        <p:spPr>
          <a:xfrm>
            <a:off x="2286000" y="2825496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REST APIs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77640" y="868680"/>
            <a:ext cx="169164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77640" y="868680"/>
            <a:ext cx="1691640" cy="5029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7" name="Text 25"/>
          <p:cNvSpPr/>
          <p:nvPr/>
        </p:nvSpPr>
        <p:spPr>
          <a:xfrm>
            <a:off x="3977640" y="8686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0" y="1508760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29" name="Text 27"/>
          <p:cNvSpPr/>
          <p:nvPr/>
        </p:nvSpPr>
        <p:spPr>
          <a:xfrm>
            <a:off x="4114800" y="1508760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MongoDB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2167128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1" name="Text 29"/>
          <p:cNvSpPr/>
          <p:nvPr/>
        </p:nvSpPr>
        <p:spPr>
          <a:xfrm>
            <a:off x="4114800" y="216712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Mongoose ODM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868680"/>
            <a:ext cx="169164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868680"/>
            <a:ext cx="1691640" cy="5029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4" name="Text 32"/>
          <p:cNvSpPr/>
          <p:nvPr/>
        </p:nvSpPr>
        <p:spPr>
          <a:xfrm>
            <a:off x="5806440" y="8686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0" y="1508760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6" name="Text 34"/>
          <p:cNvSpPr/>
          <p:nvPr/>
        </p:nvSpPr>
        <p:spPr>
          <a:xfrm>
            <a:off x="5943600" y="1508760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JWT Auth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2167128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8" name="Text 36"/>
          <p:cNvSpPr/>
          <p:nvPr/>
        </p:nvSpPr>
        <p:spPr>
          <a:xfrm>
            <a:off x="5943600" y="216712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bcrypt Hashing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2825496"/>
            <a:ext cx="141732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40" name="Text 38"/>
          <p:cNvSpPr/>
          <p:nvPr/>
        </p:nvSpPr>
        <p:spPr>
          <a:xfrm>
            <a:off x="5943600" y="2825496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OTP Verification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06640" y="868680"/>
            <a:ext cx="1554480" cy="4023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06640" y="868680"/>
            <a:ext cx="1554480" cy="5029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3" name="Text 41"/>
          <p:cNvSpPr/>
          <p:nvPr/>
        </p:nvSpPr>
        <p:spPr>
          <a:xfrm>
            <a:off x="7406640" y="8686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543800" y="1508760"/>
            <a:ext cx="128016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45" name="Text 43"/>
          <p:cNvSpPr/>
          <p:nvPr/>
        </p:nvSpPr>
        <p:spPr>
          <a:xfrm>
            <a:off x="7543800" y="1508760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VS Code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43800" y="2167128"/>
            <a:ext cx="128016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47" name="Text 45"/>
          <p:cNvSpPr/>
          <p:nvPr/>
        </p:nvSpPr>
        <p:spPr>
          <a:xfrm>
            <a:off x="7543800" y="2167128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Postman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43800" y="2825496"/>
            <a:ext cx="128016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49" name="Text 47"/>
          <p:cNvSpPr/>
          <p:nvPr/>
        </p:nvSpPr>
        <p:spPr>
          <a:xfrm>
            <a:off x="7543800" y="2825496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GitHub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43800" y="3483864"/>
            <a:ext cx="1280160" cy="512064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51" name="Text 49"/>
          <p:cNvSpPr/>
          <p:nvPr/>
        </p:nvSpPr>
        <p:spPr>
          <a:xfrm>
            <a:off x="7543800" y="3483864"/>
            <a:ext cx="1280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MongoDB Compass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 &amp;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2606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51760" cy="47548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320040" y="8686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417320"/>
            <a:ext cx="243230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MongoDB Collections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Users · Tasks · Foils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Cylinders · Attendance · Reports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011680"/>
            <a:ext cx="182880" cy="73152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0" name="Text 8"/>
          <p:cNvSpPr/>
          <p:nvPr/>
        </p:nvSpPr>
        <p:spPr>
          <a:xfrm>
            <a:off x="2953512" y="1883664"/>
            <a:ext cx="2194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868680"/>
            <a:ext cx="2651760" cy="2606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68680"/>
            <a:ext cx="2651760" cy="47548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3154680" y="8686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417320"/>
            <a:ext cx="243230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React.js Frontend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Role-based Navigation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Responsive Dashboard 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2011680"/>
            <a:ext cx="182880" cy="73152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6" name="Text 14"/>
          <p:cNvSpPr/>
          <p:nvPr/>
        </p:nvSpPr>
        <p:spPr>
          <a:xfrm>
            <a:off x="5788152" y="1883664"/>
            <a:ext cx="2194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868680"/>
            <a:ext cx="2651760" cy="2606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868680"/>
            <a:ext cx="2651760" cy="47548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5989320" y="8686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9048" y="1417320"/>
            <a:ext cx="243230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Node.js / Express.js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REST API Logic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JWT Auth &amp; Validation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3657600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Design Patterns &amp; Architecture Styles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977640"/>
            <a:ext cx="1627632" cy="88696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3" name="Text 21"/>
          <p:cNvSpPr/>
          <p:nvPr/>
        </p:nvSpPr>
        <p:spPr>
          <a:xfrm>
            <a:off x="320040" y="397764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MVC Pattern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361688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CAE1"/>
                </a:solidFill>
              </a:rPr>
              <a:t>Model → View → Controller separation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84832" y="3977640"/>
            <a:ext cx="1627632" cy="88696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6" name="Text 24"/>
          <p:cNvSpPr/>
          <p:nvPr/>
        </p:nvSpPr>
        <p:spPr>
          <a:xfrm>
            <a:off x="2084832" y="397764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RESTful API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84832" y="4361688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CAE1"/>
                </a:solidFill>
              </a:rPr>
              <a:t>Stateless HTTP data exchange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9624" y="3977640"/>
            <a:ext cx="1627632" cy="88696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9" name="Text 27"/>
          <p:cNvSpPr/>
          <p:nvPr/>
        </p:nvSpPr>
        <p:spPr>
          <a:xfrm>
            <a:off x="3849624" y="397764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JWT Auth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9624" y="4361688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CAE1"/>
                </a:solidFill>
              </a:rPr>
              <a:t>Secure role-based access control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14416" y="3977640"/>
            <a:ext cx="1627632" cy="88696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2" name="Text 30"/>
          <p:cNvSpPr/>
          <p:nvPr/>
        </p:nvSpPr>
        <p:spPr>
          <a:xfrm>
            <a:off x="5614416" y="397764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Repository Pattern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14416" y="4361688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CAE1"/>
                </a:solidFill>
              </a:rPr>
              <a:t>Organized DB interactions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79208" y="3977640"/>
            <a:ext cx="1627632" cy="88696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5" name="Text 33"/>
          <p:cNvSpPr/>
          <p:nvPr/>
        </p:nvSpPr>
        <p:spPr>
          <a:xfrm>
            <a:off x="7379208" y="397764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Modular Design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79208" y="4361688"/>
            <a:ext cx="16276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CAE1"/>
                </a:solidFill>
              </a:rPr>
              <a:t>Independent feature modules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Modules &amp; Implementation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06040" cy="384048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7" name="Text 5"/>
          <p:cNvSpPr/>
          <p:nvPr/>
        </p:nvSpPr>
        <p:spPr>
          <a:xfrm>
            <a:off x="320040" y="86868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Authentication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" y="1426464"/>
            <a:ext cx="128016" cy="128016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9" name="Text 7"/>
          <p:cNvSpPr/>
          <p:nvPr/>
        </p:nvSpPr>
        <p:spPr>
          <a:xfrm>
            <a:off x="649224" y="1344168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JWT Login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" y="1719072"/>
            <a:ext cx="128016" cy="128016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11" name="Text 9"/>
          <p:cNvSpPr/>
          <p:nvPr/>
        </p:nvSpPr>
        <p:spPr>
          <a:xfrm>
            <a:off x="649224" y="1636776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OTP Verification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" y="2011680"/>
            <a:ext cx="128016" cy="128016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13" name="Text 11"/>
          <p:cNvSpPr/>
          <p:nvPr/>
        </p:nvSpPr>
        <p:spPr>
          <a:xfrm>
            <a:off x="649224" y="1929384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Admin Approval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" y="2304288"/>
            <a:ext cx="128016" cy="128016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15" name="Text 13"/>
          <p:cNvSpPr/>
          <p:nvPr/>
        </p:nvSpPr>
        <p:spPr>
          <a:xfrm>
            <a:off x="649224" y="2221992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Role-Based Access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86868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868680"/>
            <a:ext cx="2606040" cy="38404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8" name="Text 16"/>
          <p:cNvSpPr/>
          <p:nvPr/>
        </p:nvSpPr>
        <p:spPr>
          <a:xfrm>
            <a:off x="3154680" y="86868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Inventory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82696" y="1426464"/>
            <a:ext cx="128016" cy="128016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0" name="Text 18"/>
          <p:cNvSpPr/>
          <p:nvPr/>
        </p:nvSpPr>
        <p:spPr>
          <a:xfrm>
            <a:off x="3483864" y="1344168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Foil Stock Mgmt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82696" y="1719072"/>
            <a:ext cx="128016" cy="128016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3483864" y="1636776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Cylinder Records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82696" y="2011680"/>
            <a:ext cx="128016" cy="128016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4" name="Text 22"/>
          <p:cNvSpPr/>
          <p:nvPr/>
        </p:nvSpPr>
        <p:spPr>
          <a:xfrm>
            <a:off x="3483864" y="1929384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Stock Version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82696" y="2304288"/>
            <a:ext cx="128016" cy="128016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6" name="Text 24"/>
          <p:cNvSpPr/>
          <p:nvPr/>
        </p:nvSpPr>
        <p:spPr>
          <a:xfrm>
            <a:off x="3483864" y="2221992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Real-time Balance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86868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868680"/>
            <a:ext cx="2606040" cy="38404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9" name="Text 27"/>
          <p:cNvSpPr/>
          <p:nvPr/>
        </p:nvSpPr>
        <p:spPr>
          <a:xfrm>
            <a:off x="5989320" y="86868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Attendance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17336" y="1426464"/>
            <a:ext cx="128016" cy="12801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1" name="Text 29"/>
          <p:cNvSpPr/>
          <p:nvPr/>
        </p:nvSpPr>
        <p:spPr>
          <a:xfrm>
            <a:off x="6318504" y="1344168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QR Scanning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17336" y="1719072"/>
            <a:ext cx="128016" cy="12801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3" name="Text 31"/>
          <p:cNvSpPr/>
          <p:nvPr/>
        </p:nvSpPr>
        <p:spPr>
          <a:xfrm>
            <a:off x="6318504" y="1636776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Biometric Support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17336" y="2011680"/>
            <a:ext cx="128016" cy="12801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5" name="Text 33"/>
          <p:cNvSpPr/>
          <p:nvPr/>
        </p:nvSpPr>
        <p:spPr>
          <a:xfrm>
            <a:off x="6318504" y="1929384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Edit History Logs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17336" y="2304288"/>
            <a:ext cx="128016" cy="12801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37" name="Text 35"/>
          <p:cNvSpPr/>
          <p:nvPr/>
        </p:nvSpPr>
        <p:spPr>
          <a:xfrm>
            <a:off x="6318504" y="2221992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Shift Management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274320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2743200"/>
            <a:ext cx="2606040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320040" y="274320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Task &amp; Prod.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48056" y="3300984"/>
            <a:ext cx="128016" cy="12801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649224" y="3218688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Task Scheduling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8056" y="3593592"/>
            <a:ext cx="128016" cy="12801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649224" y="3511296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Progress Monitoring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8056" y="3886200"/>
            <a:ext cx="128016" cy="12801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649224" y="3803904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PDF Upload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8056" y="4178808"/>
            <a:ext cx="128016" cy="12801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48" name="Text 46"/>
          <p:cNvSpPr/>
          <p:nvPr/>
        </p:nvSpPr>
        <p:spPr>
          <a:xfrm>
            <a:off x="649224" y="4096512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Production Dashboard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54680" y="274320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154680" y="2743200"/>
            <a:ext cx="2606040" cy="38404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1" name="Text 49"/>
          <p:cNvSpPr/>
          <p:nvPr/>
        </p:nvSpPr>
        <p:spPr>
          <a:xfrm>
            <a:off x="3154680" y="274320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Barcodes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282696" y="3300984"/>
            <a:ext cx="128016" cy="12801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3" name="Text 51"/>
          <p:cNvSpPr/>
          <p:nvPr/>
        </p:nvSpPr>
        <p:spPr>
          <a:xfrm>
            <a:off x="3483864" y="3218688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Auto Generation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82696" y="3593592"/>
            <a:ext cx="128016" cy="12801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5" name="Text 53"/>
          <p:cNvSpPr/>
          <p:nvPr/>
        </p:nvSpPr>
        <p:spPr>
          <a:xfrm>
            <a:off x="3483864" y="3511296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QR Integration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82696" y="3886200"/>
            <a:ext cx="128016" cy="12801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7" name="Text 55"/>
          <p:cNvSpPr/>
          <p:nvPr/>
        </p:nvSpPr>
        <p:spPr>
          <a:xfrm>
            <a:off x="3483864" y="3803904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Thermal Print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82696" y="4178808"/>
            <a:ext cx="128016" cy="128016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59" name="Text 57"/>
          <p:cNvSpPr/>
          <p:nvPr/>
        </p:nvSpPr>
        <p:spPr>
          <a:xfrm>
            <a:off x="3483864" y="4096512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Scanning Support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89320" y="274320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989320" y="2743200"/>
            <a:ext cx="2606040" cy="38404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2" name="Text 60"/>
          <p:cNvSpPr/>
          <p:nvPr/>
        </p:nvSpPr>
        <p:spPr>
          <a:xfrm>
            <a:off x="5989320" y="274320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Reports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117336" y="3300984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4" name="Text 62"/>
          <p:cNvSpPr/>
          <p:nvPr/>
        </p:nvSpPr>
        <p:spPr>
          <a:xfrm>
            <a:off x="6318504" y="3218688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Analytics Dashboard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17336" y="3593592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6" name="Text 64"/>
          <p:cNvSpPr/>
          <p:nvPr/>
        </p:nvSpPr>
        <p:spPr>
          <a:xfrm>
            <a:off x="6318504" y="3511296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Stock Reports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17336" y="388620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8" name="Text 66"/>
          <p:cNvSpPr/>
          <p:nvPr/>
        </p:nvSpPr>
        <p:spPr>
          <a:xfrm>
            <a:off x="6318504" y="3803904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Attendance Logs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17336" y="4178808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0" name="Text 68"/>
          <p:cNvSpPr/>
          <p:nvPr/>
        </p:nvSpPr>
        <p:spPr>
          <a:xfrm>
            <a:off x="6318504" y="4096512"/>
            <a:ext cx="21762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PDF Export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Coding Practices &amp; Code Quality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1430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02920" cy="1143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5"/>
          <p:cNvSpPr/>
          <p:nvPr/>
        </p:nvSpPr>
        <p:spPr>
          <a:xfrm>
            <a:off x="914400" y="960120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Clean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429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Readable and maintainable code structure with meaningful naming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1430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502920" cy="11430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5349240" y="960120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DRY Principle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344168"/>
            <a:ext cx="3429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Avoid repeated logic with reusable components and functions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160520" cy="11430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94560"/>
            <a:ext cx="502920" cy="1143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914400" y="2286000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 Principle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70048"/>
            <a:ext cx="3429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Simple and understandable implementation approach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160520" cy="11430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502920" cy="11430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9" name="Text 17"/>
          <p:cNvSpPr/>
          <p:nvPr/>
        </p:nvSpPr>
        <p:spPr>
          <a:xfrm>
            <a:off x="5349240" y="2286000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Defensive Programming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670048"/>
            <a:ext cx="3429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Input validation and comprehensive error handling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3291840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Code Analysis Tools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657600"/>
            <a:ext cx="1572768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7216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SonarQube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2519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AE1"/>
                </a:solidFill>
              </a:rPr>
              <a:t>Static &amp; AI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39112" y="3657600"/>
            <a:ext cx="1572768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39112" y="37216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ESLint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39112" y="42519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AE1"/>
                </a:solidFill>
              </a:rPr>
              <a:t>JS Code Quality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58184" y="3657600"/>
            <a:ext cx="1572768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58184" y="37216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Node.js Debugger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58184" y="42519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AE1"/>
                </a:solidFill>
              </a:rPr>
              <a:t>Runtime Monitoring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77256" y="3657600"/>
            <a:ext cx="1572768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77256" y="37216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Chrome DevTools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77256" y="42519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AE1"/>
                </a:solidFill>
              </a:rPr>
              <a:t>Frontend Performance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96328" y="3657600"/>
            <a:ext cx="1572768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96328" y="37216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Postman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96328" y="425196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AE1"/>
                </a:solidFill>
              </a:rPr>
              <a:t>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INVEST Checklist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005840"/>
            <a:ext cx="960120" cy="6858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7" name="Text 5"/>
          <p:cNvSpPr/>
          <p:nvPr/>
        </p:nvSpPr>
        <p:spPr>
          <a:xfrm>
            <a:off x="1143000" y="1005840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Independent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331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Each module (attendance, inventory, tasks) operates independently.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1005840"/>
            <a:ext cx="960120" cy="6858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3977640" y="1005840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54680" y="173736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Negotiable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2331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Features can be upgraded or modified based on company requirements.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86868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005840"/>
            <a:ext cx="960120" cy="6858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6812280" y="1005840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V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89320" y="173736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Valuable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331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Improves operational efficiency and stock monitoring significantly.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43000" y="2971800"/>
            <a:ext cx="960120" cy="6858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1143000" y="2971800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370332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Estimable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2331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Modules implementable within planned development timelines.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83464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77640" y="2971800"/>
            <a:ext cx="960120" cy="6858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7" name="Text 25"/>
          <p:cNvSpPr/>
          <p:nvPr/>
        </p:nvSpPr>
        <p:spPr>
          <a:xfrm>
            <a:off x="3977640" y="2971800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154680" y="370332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Small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4023360"/>
            <a:ext cx="2331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Each feature divided into manageable, focused modules.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2834640"/>
            <a:ext cx="260604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2971800"/>
            <a:ext cx="960120" cy="68580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2" name="Text 30"/>
          <p:cNvSpPr/>
          <p:nvPr/>
        </p:nvSpPr>
        <p:spPr>
          <a:xfrm>
            <a:off x="6812280" y="2971800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989320" y="3703320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Testable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4023360"/>
            <a:ext cx="2331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All APIs and workflows validated through Postman and testing tools.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Enhancements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01168" cy="15087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594360" y="941832"/>
            <a:ext cx="2258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AI Stock Prediction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22585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ML-based forecasting for foil and cylinder inventory demand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68680"/>
            <a:ext cx="201168" cy="1508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3429000" y="941832"/>
            <a:ext cx="2258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Mobile Application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1325880"/>
            <a:ext cx="22585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Native mobile app for iOS &amp; Android workforce management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86868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868680"/>
            <a:ext cx="201168" cy="150876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5" name="Text 13"/>
          <p:cNvSpPr/>
          <p:nvPr/>
        </p:nvSpPr>
        <p:spPr>
          <a:xfrm>
            <a:off x="6263640" y="941832"/>
            <a:ext cx="2258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Thermal Printer Integration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1325880"/>
            <a:ext cx="22585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Direct barcode printing to thermal label printers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51760"/>
            <a:ext cx="201168" cy="15087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594360" y="2724912"/>
            <a:ext cx="2258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Cloud Deployment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108960"/>
            <a:ext cx="22585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AWS/Azure cloud infrastructure for scalability and uptime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65176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651760"/>
            <a:ext cx="201168" cy="15087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3" name="Text 21"/>
          <p:cNvSpPr/>
          <p:nvPr/>
        </p:nvSpPr>
        <p:spPr>
          <a:xfrm>
            <a:off x="3429000" y="2724912"/>
            <a:ext cx="2258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RFID &amp; IoT Integration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108960"/>
            <a:ext cx="22585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Real-time physical asset tracking with IoT sensors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651760"/>
            <a:ext cx="2606040" cy="15087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651760"/>
            <a:ext cx="201168" cy="15087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6263640" y="2724912"/>
            <a:ext cx="2258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Real-time Notifications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3108960"/>
            <a:ext cx="22585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Push alerts for stock thresholds and task updates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4434840"/>
            <a:ext cx="260604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4434840"/>
            <a:ext cx="201168" cy="50292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1" name="Text 29"/>
          <p:cNvSpPr/>
          <p:nvPr/>
        </p:nvSpPr>
        <p:spPr>
          <a:xfrm>
            <a:off x="3429000" y="4507992"/>
            <a:ext cx="22585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Advanced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ECAE1"/>
                </a:solidFill>
              </a:rPr>
              <a:t>  successfully delivers a complete multi-company smart production and workforce management system for pharmaceutical packaging industries.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777240" y="1901952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Integrates inventory tracking, attendance management, task scheduling &amp; barcode generation into one platform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201168" cy="20116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777240" y="2468880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Improves production monitoring and reduces manual errors with real-time operational control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201168" cy="20116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777240" y="3035808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Enhances stock visibility for managers and administrators across multiple companies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201168" cy="20116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5" name="Text 13"/>
          <p:cNvSpPr/>
          <p:nvPr/>
        </p:nvSpPr>
        <p:spPr>
          <a:xfrm>
            <a:off x="777240" y="3602736"/>
            <a:ext cx="7955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Scalable, secure architecture designed for future AI-powered industrial automation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7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Bharatraj B  |  B.Tech Artificial Intelligence &amp; Data Analytics  |  smart-pharma-system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731520"/>
            <a:ext cx="3291840" cy="3291840"/>
          </a:xfrm>
          <a:prstGeom prst="ellipse">
            <a:avLst/>
          </a:prstGeom>
          <a:solidFill>
            <a:srgbClr val="028090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3446780" y="1463040"/>
            <a:ext cx="2560320" cy="2560320"/>
          </a:xfrm>
          <a:prstGeom prst="ellipse">
            <a:avLst/>
          </a:prstGeom>
          <a:solidFill>
            <a:srgbClr val="028090">
              <a:alpha val="3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519430" y="20574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400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154680"/>
            <a:ext cx="2743200" cy="4572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7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smart-pharma-system  |     |  Pharmaceutical Packaging Intelligence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6084</Words>
  <Application>WPS Presentation</Application>
  <PresentationFormat>On-screen Show (16:9)</PresentationFormat>
  <Paragraphs>489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Pharma System</dc:title>
  <dc:creator>Bharatraj B</dc:creator>
  <dc:subject>PptxGenJS Presentation</dc:subject>
  <cp:lastModifiedBy>Preethysha Sweety</cp:lastModifiedBy>
  <cp:revision>3</cp:revision>
  <dcterms:created xsi:type="dcterms:W3CDTF">2026-05-07T05:36:00Z</dcterms:created>
  <dcterms:modified xsi:type="dcterms:W3CDTF">2026-06-07T18:49:08Z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DDABD68C6C63441DB0F5211BB2F533C9_12</vt:lpwstr>
  </property>
</Properties>
</file>